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097280"/>
            <a:ext cx="4114800" cy="411480"/>
          </a:xfrm>
          <a:prstGeom prst="roundRect">
            <a:avLst/>
          </a:prstGeom>
          <a:solidFill>
            <a:srgbClr val="1E3A8A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93C5FD"/>
                </a:solidFill>
              </a:defRPr>
            </a:pPr>
            <a:r>
              <a:t>🏆 SMART INDIA HACKATHON (SIH)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Skill-Sync AI</a:t>
            </a:r>
          </a:p>
          <a:p>
            <a:pPr>
              <a:defRPr sz="2400" b="1">
                <a:solidFill>
                  <a:srgbClr val="60A5FA"/>
                </a:solidFill>
              </a:defRPr>
            </a:pPr>
            <a:r>
              <a:t>Smart Allocation Engine &amp; Career Enablement for PM Internship Scheme</a:t>
            </a:r>
          </a:p>
          <a:p>
            <a:pPr>
              <a:defRPr sz="1600">
                <a:solidFill>
                  <a:srgbClr val="CBD5E1"/>
                </a:solidFill>
              </a:defRPr>
            </a:pPr>
            <a:r>
              <a:t>An intelligent, multi-tenant platform ensuring merit-driven, equitable, and AI-optimized internship matching at national scale.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931920"/>
            <a:ext cx="320040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93C5FD"/>
                </a:solidFill>
              </a:defRPr>
            </a:pPr>
            <a:r>
              <a:t>🎯 Hybrid AI Matching</a:t>
            </a:r>
          </a:p>
          <a:p>
            <a:br/>
            <a:pPr>
              <a:defRPr sz="1300">
                <a:solidFill>
                  <a:srgbClr val="E2E8F0"/>
                </a:solidFill>
              </a:defRPr>
            </a:pPr>
            <a:r>
              <a:t>Combines NLP semantic vector similarity + Jaccard skill coverage + non-linear boosting for optimal student-role fit.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3931920"/>
            <a:ext cx="320040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6EE7B7"/>
                </a:solidFill>
              </a:defRPr>
            </a:pPr>
            <a:r>
              <a:t>📊 Diversity &amp; Affirmative Action</a:t>
            </a:r>
          </a:p>
          <a:p>
            <a:br/>
            <a:pPr>
              <a:defRPr sz="1300">
                <a:solidFill>
                  <a:srgbClr val="E2E8F0"/>
                </a:solidFill>
              </a:defRPr>
            </a:pPr>
            <a:r>
              <a:t>Real-time analytics &amp; macro-allocation balancing Gender Parity, Rural/Urban ratios, and Tier-1/2/3 College representation.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3931920"/>
            <a:ext cx="320040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CD34D"/>
                </a:solidFill>
              </a:defRPr>
            </a:pPr>
            <a:r>
              <a:t>🎙️ AI Upskilling &amp; Mock Studio</a:t>
            </a:r>
          </a:p>
          <a:p>
            <a:br/>
            <a:pPr>
              <a:defRPr sz="1300">
                <a:solidFill>
                  <a:srgbClr val="E2E8F0"/>
                </a:solidFill>
              </a:defRPr>
            </a:pPr>
            <a:r>
              <a:t>Automated resume parsing, skill-gap diagnostics, 3-phase customized roadmaps, and live AI interview assessment.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200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PROBLEM &amp;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The Problem: Scaling the PM Internship Scheme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840480" cy="45720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2563EB"/>
                </a:solidFill>
              </a:defRPr>
            </a:pPr>
            <a:r>
              <a:t>🇮🇳 The PM Scheme Vision</a:t>
            </a:r>
          </a:p>
          <a:p>
            <a:br/>
            <a:pPr>
              <a:defRPr b="1" sz="1500">
                <a:solidFill>
                  <a:srgbClr val="0F172A"/>
                </a:solidFill>
              </a:defRPr>
            </a:pPr>
            <a:r>
              <a:t>• 1 Crore Youth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   Targeted over 5 years across India's Top 500 Companies.</a:t>
            </a:r>
          </a:p>
          <a:p>
            <a:br/>
            <a:pPr>
              <a:defRPr b="1" sz="1500">
                <a:solidFill>
                  <a:srgbClr val="0F172A"/>
                </a:solidFill>
              </a:defRPr>
            </a:pPr>
            <a:r>
              <a:t>• 12-Month Internships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   Bridging academic education and industry-grade job readiness.</a:t>
            </a:r>
          </a:p>
          <a:p>
            <a:br/>
            <a:pPr>
              <a:defRPr b="1" sz="1500">
                <a:solidFill>
                  <a:srgbClr val="0F172A"/>
                </a:solidFill>
              </a:defRPr>
            </a:pPr>
            <a:r>
              <a:t>• Rs 5,000 Monthly Stipend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   Empowering students from all socio-economic backgrounds.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645920"/>
            <a:ext cx="65836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DC2626"/>
                </a:solidFill>
              </a:defRPr>
            </a:pPr>
            <a:r>
              <a:t>🔴 Massive Scale &amp; Manual Bottlenecks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Processing millions of diverse resumes against thousands of job descriptions leads to misallocation, delays, and screening fatigue.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46320" y="2743200"/>
            <a:ext cx="65836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DC2626"/>
                </a:solidFill>
              </a:defRPr>
            </a:pPr>
            <a:r>
              <a:t>🔴 Skill-Opportunity Asymmetry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Candidates lack visibility into exact industry expectations, while recruiters struggle to evaluate real competency from text resumes.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46320" y="3840480"/>
            <a:ext cx="65836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DC2626"/>
                </a:solidFill>
              </a:defRPr>
            </a:pPr>
            <a:r>
              <a:t>🔴 Socio-Demographic Inequity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Students from rural areas, Tier-2/3 institutions, and underrepresented genders face structural disadvantages in discovery.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46320" y="4937760"/>
            <a:ext cx="65836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DC2626"/>
                </a:solidFill>
              </a:defRPr>
            </a:pPr>
            <a:r>
              <a:t>🔴 Lack of Pre-Placement Enablement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Applicants from non-metro areas lack access to personalized resume reviews, interview coaching, and skill-gap roadmaps.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200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SOLUTION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Skill-Sync AI: A Tri-Party Intelligent Ecosystem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4612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br/>
            <a:br/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✓  AI Resume Auto-Parser &amp; Profile Extractor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✓  Skill Gap Matrix with Priority &amp; Learning Time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✓  3-Phase Personalized Upskilling Roadmap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✓  Interactive AI Mock Interviewer with instant scorecard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✓  Continuous Mini-Project Skill Simulator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783080"/>
            <a:ext cx="2971800" cy="594360"/>
          </a:xfrm>
          <a:prstGeom prst="roundRect">
            <a:avLst/>
          </a:prstGeom>
          <a:solidFill>
            <a:srgbClr val="EFF6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🎓 Candidate / Student Portal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645920"/>
            <a:ext cx="324612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br/>
            <a:br/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✓  Structured Internship Requisition Publishing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✓  AI Match Scoreboard &amp; Talent Pipeline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✓  Multi-Criteria Candidate Dossier Inspection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✓  Frictionless Status Progression &amp; Shortlisting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✓  Targeted Skill Requirements Definition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17720" y="1783080"/>
            <a:ext cx="2971800" cy="594360"/>
          </a:xfrm>
          <a:prstGeom prst="roundRect">
            <a:avLst/>
          </a:prstGeom>
          <a:solidFill>
            <a:srgbClr val="ECFDF5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🏢 Corporate Recruiter Cockpit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1645920"/>
            <a:ext cx="324612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br/>
            <a:br/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✓  Automated Global Macro-Allocation Routine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✓  Real-time Diversity &amp; Equity Dashboard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✓  Institutional Tier &amp; Gender Parity Monitoring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✓  Regional &amp; Sectoral Coverage Analytics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✓  User Access Control &amp; Audit Governance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66760" y="1783080"/>
            <a:ext cx="2971800" cy="594360"/>
          </a:xfrm>
          <a:prstGeom prst="roundRect">
            <a:avLst/>
          </a:prstGeom>
          <a:solidFill>
            <a:srgbClr val="F5F3FF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8B5CF6"/>
                </a:solidFill>
              </a:defRPr>
            </a:pPr>
            <a:r>
              <a:t>🏛️ Scheme Governance / Admin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200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MATCHING ALGORITHM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Proprietary AI Matching Algorithm &amp; Mathematical Formulation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2563EB"/>
                </a:solidFill>
              </a:defRPr>
            </a:pPr>
            <a:r>
              <a:t>📐 Hybrid Matching Formulation</a:t>
            </a:r>
          </a:p>
          <a:p>
            <a:br/>
            <a:pPr>
              <a:defRPr b="1" sz="1400">
                <a:solidFill>
                  <a:srgbClr val="0F172A"/>
                </a:solidFill>
              </a:defRPr>
            </a:pPr>
            <a:r>
              <a:t>1. Raw Multi-Factor Score:</a:t>
            </a:r>
          </a:p>
          <a:p>
            <a:pPr>
              <a:defRPr b="1" sz="1400">
                <a:solidFill>
                  <a:srgbClr val="2563EB"/>
                </a:solidFill>
              </a:defRPr>
            </a:pPr>
            <a:r>
              <a:t>   Score_raw = (0.30 × S_vector) + (0.70 × S_skill)</a:t>
            </a:r>
          </a:p>
          <a:p>
            <a:br/>
            <a:pPr>
              <a:defRPr b="1" sz="1400">
                <a:solidFill>
                  <a:srgbClr val="0F172A"/>
                </a:solidFill>
              </a:defRPr>
            </a:pPr>
            <a:r>
              <a:t>2. Non-Linear Score Boosting Curve:</a:t>
            </a:r>
          </a:p>
          <a:p>
            <a:pPr>
              <a:defRPr b="1" sz="1400">
                <a:solidFill>
                  <a:srgbClr val="10B981"/>
                </a:solidFill>
              </a:defRPr>
            </a:pPr>
            <a:r>
              <a:t>   Score_final = (Score_raw)^0.5 × 100</a:t>
            </a:r>
          </a:p>
          <a:p>
            <a:br/>
            <a:pPr>
              <a:defRPr sz="1200">
                <a:solidFill>
                  <a:srgbClr val="64748B"/>
                </a:solidFill>
              </a:defRPr>
            </a:pPr>
            <a:r>
              <a:t>Why this works:</a:t>
            </a:r>
            <a:br/>
            <a:r>
              <a:t>• 70% weight on mandatory skills guarantees role competency.</a:t>
            </a:r>
            <a:br/>
            <a:r>
              <a:t>• 30% semantic NLP captures domain aspirations &amp; soft skills.</a:t>
            </a:r>
            <a:br/>
            <a:r>
              <a:t>• Square-root curve prevents harsh penalties for candidates with solid foundations, encouraging continuous upskilling.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645920"/>
            <a:ext cx="53035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t>Step 1: NLP Vectorization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Vectorizes student career goals, skills, and industry preferences alongside role descriptions using TF-IDF with English stop-word filtration.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2788920"/>
            <a:ext cx="53035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Step 2: Semantic Cosine Similarity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Computes high-dimensional cosine angle S_vector between candidate profile vectors and corporate requisition embeddings.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3931920"/>
            <a:ext cx="53035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Step 3: Jaccard Skill Overlap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Calculates exact set intersection: S_skill = |Student Skills ∩ Required Skills| / |Required Skills|.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5074920"/>
            <a:ext cx="53035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8B5CF6"/>
                </a:solidFill>
              </a:defRPr>
            </a:pPr>
            <a:r>
              <a:t>Step 4: Real-time Multi-Candidate Ranking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Ranks top candidates and displays transparent scorecards with drill-down breakdown to candidates and recruiters.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200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End-to-End Scalable Technology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4688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2563EB"/>
                </a:solidFill>
              </a:defRPr>
            </a:pPr>
            <a:r>
              <a:t>Frontend Application</a:t>
            </a:r>
          </a:p>
          <a:p>
            <a:br/>
            <a:pPr>
              <a:defRPr b="1" sz="1200">
                <a:solidFill>
                  <a:srgbClr val="0F172A"/>
                </a:solidFill>
              </a:defRPr>
            </a:pPr>
            <a:r>
              <a:t>Framework: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React 19.1 + TypeScript 5.8</a:t>
            </a:r>
          </a:p>
          <a:p>
            <a:br/>
            <a:pPr>
              <a:defRPr b="1" sz="1200">
                <a:solidFill>
                  <a:srgbClr val="0F172A"/>
                </a:solidFill>
              </a:defRPr>
            </a:pPr>
            <a:r>
              <a:t>Styling: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Tailwind CSS + Lucide Icons</a:t>
            </a:r>
          </a:p>
          <a:p>
            <a:br/>
            <a:pPr>
              <a:defRPr b="1" sz="1200">
                <a:solidFill>
                  <a:srgbClr val="0F172A"/>
                </a:solidFill>
              </a:defRPr>
            </a:pPr>
            <a:r>
              <a:t>Build Tool: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Vite 6.2 (Sub-second HMR)</a:t>
            </a:r>
          </a:p>
          <a:p>
            <a:br/>
            <a:pPr>
              <a:defRPr b="1" sz="1200">
                <a:solidFill>
                  <a:srgbClr val="0F172A"/>
                </a:solidFill>
              </a:defRPr>
            </a:pPr>
            <a:r>
              <a:t>State &amp; Routing: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React Router DOM + Context API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645920"/>
            <a:ext cx="24688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0B981"/>
                </a:solidFill>
              </a:defRPr>
            </a:pPr>
            <a:r>
              <a:t>Backend REST Services</a:t>
            </a:r>
          </a:p>
          <a:p>
            <a:br/>
            <a:pPr>
              <a:defRPr b="1" sz="1200">
                <a:solidFill>
                  <a:srgbClr val="0F172A"/>
                </a:solidFill>
              </a:defRPr>
            </a:pPr>
            <a:r>
              <a:t>Core Engine: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Python 3.9+ &amp; FastAPI 0.128</a:t>
            </a:r>
          </a:p>
          <a:p>
            <a:br/>
            <a:pPr>
              <a:defRPr b="1" sz="1200">
                <a:solidFill>
                  <a:srgbClr val="0F172A"/>
                </a:solidFill>
              </a:defRPr>
            </a:pPr>
            <a:r>
              <a:t>Async Server: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Uvicorn &amp; AsyncIO</a:t>
            </a:r>
          </a:p>
          <a:p>
            <a:br/>
            <a:pPr>
              <a:defRPr b="1" sz="1200">
                <a:solidFill>
                  <a:srgbClr val="0F172A"/>
                </a:solidFill>
              </a:defRPr>
            </a:pPr>
            <a:r>
              <a:t>Security: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JWT Tokens &amp; Passlib Bcrypt</a:t>
            </a:r>
          </a:p>
          <a:p>
            <a:br/>
            <a:pPr>
              <a:defRPr b="1" sz="1200">
                <a:solidFill>
                  <a:srgbClr val="0F172A"/>
                </a:solidFill>
              </a:defRPr>
            </a:pPr>
            <a:r>
              <a:t>Architecture: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Modular Endpoints &amp; Pydantic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24688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59E0B"/>
                </a:solidFill>
              </a:defRPr>
            </a:pPr>
            <a:r>
              <a:t>AI &amp; Machine Learning</a:t>
            </a:r>
          </a:p>
          <a:p>
            <a:br/>
            <a:pPr>
              <a:defRPr b="1" sz="1200">
                <a:solidFill>
                  <a:srgbClr val="0F172A"/>
                </a:solidFill>
              </a:defRPr>
            </a:pPr>
            <a:r>
              <a:t>LLM Inference: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Groq Cloud (Qwen 3.6 / Llama 3)</a:t>
            </a:r>
          </a:p>
          <a:p>
            <a:br/>
            <a:pPr>
              <a:defRPr b="1" sz="1200">
                <a:solidFill>
                  <a:srgbClr val="0F172A"/>
                </a:solidFill>
              </a:defRPr>
            </a:pPr>
            <a:r>
              <a:t>NLP Matching: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Scikit-Learn TF-IDF Vectorizer</a:t>
            </a:r>
          </a:p>
          <a:p>
            <a:br/>
            <a:pPr>
              <a:defRPr b="1" sz="1200">
                <a:solidFill>
                  <a:srgbClr val="0F172A"/>
                </a:solidFill>
              </a:defRPr>
            </a:pPr>
            <a:r>
              <a:t>Similarity: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Cosine Similarity + NumPy</a:t>
            </a:r>
          </a:p>
          <a:p>
            <a:br/>
            <a:pPr>
              <a:defRPr b="1" sz="1200">
                <a:solidFill>
                  <a:srgbClr val="0F172A"/>
                </a:solidFill>
              </a:defRPr>
            </a:pPr>
            <a:r>
              <a:t>Fallback AI: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Local Rule-based Heuristics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0" y="1645920"/>
            <a:ext cx="24688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8B5CF6"/>
                </a:solidFill>
              </a:defRPr>
            </a:pPr>
            <a:r>
              <a:t>Persistence &amp; Database</a:t>
            </a:r>
          </a:p>
          <a:p>
            <a:br/>
            <a:pPr>
              <a:defRPr b="1" sz="1200">
                <a:solidFill>
                  <a:srgbClr val="0F172A"/>
                </a:solidFill>
              </a:defRPr>
            </a:pPr>
            <a:r>
              <a:t>Database: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MongoDB Atlas / Local NoSQL</a:t>
            </a:r>
          </a:p>
          <a:p>
            <a:br/>
            <a:pPr>
              <a:defRPr b="1" sz="1200">
                <a:solidFill>
                  <a:srgbClr val="0F172A"/>
                </a:solidFill>
              </a:defRPr>
            </a:pPr>
            <a:r>
              <a:t>Async ODM: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Beanie ODM Framework</a:t>
            </a:r>
          </a:p>
          <a:p>
            <a:br/>
            <a:pPr>
              <a:defRPr b="1" sz="1200">
                <a:solidFill>
                  <a:srgbClr val="0F172A"/>
                </a:solidFill>
              </a:defRPr>
            </a:pPr>
            <a:r>
              <a:t>Async Driver: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Motor Python Client</a:t>
            </a:r>
          </a:p>
          <a:p>
            <a:br/>
            <a:pPr>
              <a:defRPr b="1" sz="1200">
                <a:solidFill>
                  <a:srgbClr val="0F172A"/>
                </a:solidFill>
              </a:defRPr>
            </a:pPr>
            <a:r>
              <a:t>Data Schemas: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Pydantic V2 Document Models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200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STUDENT ENABLEMENT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Candidate Enablement: Upskilling, Resume AI &amp; Roadmaps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3035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📄 AI Resume Auto-Extractor</a:t>
            </a:r>
          </a:p>
          <a:p>
            <a:br/>
            <a:pPr>
              <a:defRPr sz="1300">
                <a:solidFill>
                  <a:srgbClr val="0F172A"/>
                </a:solidFill>
              </a:defRPr>
            </a:pPr>
            <a:r>
              <a:t>Upload raw text or resume files. Groq LLM parses candidate skills, projects, degrees, strengths, and areas of improvement into structured JSON schemas automatically.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645920"/>
            <a:ext cx="53035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🔍 Real-Time Skill-Gap Matrix</a:t>
            </a:r>
          </a:p>
          <a:p>
            <a:br/>
            <a:pPr>
              <a:defRPr sz="1300">
                <a:solidFill>
                  <a:srgbClr val="0F172A"/>
                </a:solidFill>
              </a:defRPr>
            </a:pPr>
            <a:r>
              <a:t>Identifies exact missing competencies for target internships. Classifies skills into High/Medium/Low priority with estimated time-to-learn (e.g. '2 weeks').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3035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8B5CF6"/>
                </a:solidFill>
              </a:defRPr>
            </a:pPr>
            <a:r>
              <a:t>🗺️ 3-Phase Personalized Roadmap</a:t>
            </a:r>
          </a:p>
          <a:p>
            <a:br/>
            <a:pPr>
              <a:defRPr sz="1300">
                <a:solidFill>
                  <a:srgbClr val="0F172A"/>
                </a:solidFill>
              </a:defRPr>
            </a:pPr>
            <a:r>
              <a:t>Generates structured 12-week learning pathways: Phase 1 (Foundations), Phase 2 (Applied Systems), Phase 3 (Portfolio &amp; Interview Readiness) with course links &amp; capstone ideas.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3931920"/>
            <a:ext cx="53035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59E0B"/>
                </a:solidFill>
              </a:defRPr>
            </a:pPr>
            <a:r>
              <a:t>⚡ Interactive Project Simulator</a:t>
            </a:r>
          </a:p>
          <a:p>
            <a:br/>
            <a:pPr>
              <a:defRPr sz="1300">
                <a:solidFill>
                  <a:srgbClr val="0F172A"/>
                </a:solidFill>
              </a:defRPr>
            </a:pPr>
            <a:r>
              <a:t>Candidates complete practical mini-projects (e.g. Market Analysis Report). AI grades submissions and instantly recalculates match scores across live listings.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200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MOCK INTERVIEW STUDIO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AI Mock Interview Studio: Real-Time Performance Analytics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2563EB"/>
                </a:solidFill>
              </a:defRPr>
            </a:pPr>
            <a:r>
              <a:t>🎙️ Live Simulated Interview Flow</a:t>
            </a:r>
          </a:p>
          <a:p>
            <a:br/>
            <a:pPr>
              <a:defRPr b="1" sz="1400">
                <a:solidFill>
                  <a:srgbClr val="0F172A"/>
                </a:solidFill>
              </a:defRPr>
            </a:pPr>
            <a:r>
              <a:t>• 1. Role Selection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   Candidate selects specific target role (e.g. AI Product Analyst, Data Engineer).</a:t>
            </a:r>
          </a:p>
          <a:p>
            <a:br/>
            <a:pPr>
              <a:defRPr b="1" sz="1400">
                <a:solidFill>
                  <a:srgbClr val="0F172A"/>
                </a:solidFill>
              </a:defRPr>
            </a:pPr>
            <a:r>
              <a:t>• 2. Interactive Video/Voice Session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   AI asks structured behavioral (STAR) and domain technical questions.</a:t>
            </a:r>
          </a:p>
          <a:p>
            <a:br/>
            <a:pPr>
              <a:defRPr b="1" sz="1400">
                <a:solidFill>
                  <a:srgbClr val="0F172A"/>
                </a:solidFill>
              </a:defRPr>
            </a:pPr>
            <a:r>
              <a:t>• 3. Speech &amp; Keyword Analysis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   Analyzes technical terminology coverage, response cadence, and clarity.</a:t>
            </a:r>
          </a:p>
          <a:p>
            <a:br/>
            <a:pPr>
              <a:defRPr b="1" sz="1400">
                <a:solidFill>
                  <a:srgbClr val="0F172A"/>
                </a:solidFill>
              </a:defRPr>
            </a:pPr>
            <a:r>
              <a:t>• 4. Comprehensive Diagnostic Report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   Generates overall score (e.g. 88/100), key strengths, and exact improvement suggestions.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645920"/>
            <a:ext cx="530352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0B981"/>
                </a:solidFill>
              </a:defRPr>
            </a:pPr>
            <a:r>
              <a:t>📊 4-Pillar Evaluation Matrix</a:t>
            </a:r>
          </a:p>
          <a:p>
            <a:br/>
            <a:pPr>
              <a:defRPr b="1" sz="1400">
                <a:solidFill>
                  <a:srgbClr val="0F172A"/>
                </a:solidFill>
              </a:defRPr>
            </a:pPr>
            <a:r>
              <a:t>• 1. Verbal Clarity &amp; Articulation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   Measures conciseness, structured thoughts, and elimination of filler words.</a:t>
            </a:r>
          </a:p>
          <a:p>
            <a:br/>
            <a:pPr>
              <a:defRPr b="1" sz="1400">
                <a:solidFill>
                  <a:srgbClr val="0F172A"/>
                </a:solidFill>
              </a:defRPr>
            </a:pPr>
            <a:r>
              <a:t>• 2. Technical &amp; Domain Keywords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   Evaluates accurate utilization of role-specific tech stack and frameworks.</a:t>
            </a:r>
          </a:p>
          <a:p>
            <a:br/>
            <a:pPr>
              <a:defRPr b="1" sz="1400">
                <a:solidFill>
                  <a:srgbClr val="0F172A"/>
                </a:solidFill>
              </a:defRPr>
            </a:pPr>
            <a:r>
              <a:t>• 3. Behavioral &amp; STAR Structuring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   Checks Situation-Task-Action-Result methodology in answering situational prompts.</a:t>
            </a:r>
          </a:p>
          <a:p>
            <a:br/>
            <a:pPr>
              <a:defRPr b="1" sz="1400">
                <a:solidFill>
                  <a:srgbClr val="0F172A"/>
                </a:solidFill>
              </a:defRPr>
            </a:pPr>
            <a:r>
              <a:t>• 4. Actionable Remediation Plan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   Provides specific links to resources for areas with low readiness scores.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200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DIVERSITY &amp;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Scheme Governance &amp; Diversity Analytics Cockpit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3035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⚧️ Gender Parity Monitoring</a:t>
            </a:r>
          </a:p>
          <a:p>
            <a:br/>
            <a:pPr>
              <a:defRPr sz="1300">
                <a:solidFill>
                  <a:srgbClr val="0F172A"/>
                </a:solidFill>
              </a:defRPr>
            </a:pPr>
            <a:r>
              <a:t>Real-time tracking of female and non-binary representation across sectors, ensuring equal opportunity across STEM and business domains.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645920"/>
            <a:ext cx="53035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🏞️ Rural vs. Urban Equity</a:t>
            </a:r>
          </a:p>
          <a:p>
            <a:br/>
            <a:pPr>
              <a:defRPr sz="1300">
                <a:solidFill>
                  <a:srgbClr val="0F172A"/>
                </a:solidFill>
              </a:defRPr>
            </a:pPr>
            <a:r>
              <a:t>Ensures candidates from rural and semi-urban districts are not marginalized by geographical location or access barriers.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3035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8B5CF6"/>
                </a:solidFill>
              </a:defRPr>
            </a:pPr>
            <a:r>
              <a:t>🏛️ Tier-1 / 2 / 3 College Inclusivity</a:t>
            </a:r>
          </a:p>
          <a:p>
            <a:br/>
            <a:pPr>
              <a:defRPr sz="1300">
                <a:solidFill>
                  <a:srgbClr val="0F172A"/>
                </a:solidFill>
              </a:defRPr>
            </a:pPr>
            <a:r>
              <a:t>Actively monitors college tier representation to ensure merit from Tier-2 and Tier-3 institutions surfaces to top 500 corporate recruiters.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3931920"/>
            <a:ext cx="53035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59E0B"/>
                </a:solidFill>
              </a:defRPr>
            </a:pPr>
            <a:r>
              <a:t>⚙️ Automated Macro Allocation Routine</a:t>
            </a:r>
          </a:p>
          <a:p>
            <a:br/>
            <a:pPr>
              <a:defRPr sz="1300">
                <a:solidFill>
                  <a:srgbClr val="0F172A"/>
                </a:solidFill>
              </a:defRPr>
            </a:pPr>
            <a:r>
              <a:t>One-click execution of national-scale batch matching algorithm balancing corporate vacancies, merit scores, and diversity targets.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200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CORPORATE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Corporate Recruiter Portal: Frictionless Talent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2563EB"/>
                </a:solidFill>
              </a:defRPr>
            </a:pPr>
            <a:r>
              <a:t>1. Intuitive Requisition Builder</a:t>
            </a:r>
          </a:p>
          <a:p>
            <a:pPr>
              <a:defRPr sz="1300">
                <a:solidFill>
                  <a:srgbClr val="0F172A"/>
                </a:solidFill>
              </a:defRPr>
            </a:pPr>
            <a:r>
              <a:t>Post role details including mandatory skills, sector, location, duration, stipend, and openings in seconds.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88920"/>
            <a:ext cx="106984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2563EB"/>
                </a:solidFill>
              </a:defRPr>
            </a:pPr>
            <a:r>
              <a:t>2. AI Ranked Match Leaderboard</a:t>
            </a:r>
          </a:p>
          <a:p>
            <a:pPr>
              <a:defRPr sz="1300">
                <a:solidFill>
                  <a:srgbClr val="0F172A"/>
                </a:solidFill>
              </a:defRPr>
            </a:pPr>
            <a:r>
              <a:t>Automatic ranking of candidates by hybrid match score, highlighting top-percentile talent instantly.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106984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2563EB"/>
                </a:solidFill>
              </a:defRPr>
            </a:pPr>
            <a:r>
              <a:t>3. Candidate Dossier &amp; Analytics</a:t>
            </a:r>
          </a:p>
          <a:p>
            <a:pPr>
              <a:defRPr sz="1300">
                <a:solidFill>
                  <a:srgbClr val="0F172A"/>
                </a:solidFill>
              </a:defRPr>
            </a:pPr>
            <a:r>
              <a:t>View comprehensive candidate profile, verified certificates, mini-project scores, and AI mock interview feedback.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6984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2563EB"/>
                </a:solidFill>
              </a:defRPr>
            </a:pPr>
            <a:r>
              <a:t>4. One-Click Pipeline Actions</a:t>
            </a:r>
          </a:p>
          <a:p>
            <a:pPr>
              <a:defRPr sz="1300">
                <a:solidFill>
                  <a:srgbClr val="0F172A"/>
                </a:solidFill>
              </a:defRPr>
            </a:pPr>
            <a:r>
              <a:t>Seamlessly shortlist, accept, or reject candidates with automated real-time candidate notifications.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200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DEMO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Live Demonstration Walkthrough for Jury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4612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Step 1: Student Experience</a:t>
            </a:r>
          </a:p>
          <a:p>
            <a:br/>
            <a:pPr>
              <a:defRPr sz="1200">
                <a:solidFill>
                  <a:srgbClr val="0F172A"/>
                </a:solidFill>
              </a:defRPr>
            </a:pPr>
            <a:r>
              <a:t>• Log in as candidate: student@example.com</a:t>
            </a:r>
          </a:p>
          <a:p>
            <a:br/>
            <a:pPr>
              <a:defRPr sz="1200">
                <a:solidFill>
                  <a:srgbClr val="0F172A"/>
                </a:solidFill>
              </a:defRPr>
            </a:pPr>
            <a:r>
              <a:t>• View hybrid AI match scores for internships</a:t>
            </a:r>
          </a:p>
          <a:p>
            <a:br/>
            <a:pPr>
              <a:defRPr sz="1200">
                <a:solidFill>
                  <a:srgbClr val="0F172A"/>
                </a:solidFill>
              </a:defRPr>
            </a:pPr>
            <a:r>
              <a:t>• Upload resume &amp; review extracted skills &amp; projects</a:t>
            </a:r>
          </a:p>
          <a:p>
            <a:br/>
            <a:pPr>
              <a:defRPr sz="1200">
                <a:solidFill>
                  <a:srgbClr val="0F172A"/>
                </a:solidFill>
              </a:defRPr>
            </a:pPr>
            <a:r>
              <a:t>• Inspect Skill Gap matrix &amp; 3-phase roadmap</a:t>
            </a:r>
          </a:p>
          <a:p>
            <a:br/>
            <a:pPr>
              <a:defRPr sz="1200">
                <a:solidFill>
                  <a:srgbClr val="0F172A"/>
                </a:solidFill>
              </a:defRPr>
            </a:pPr>
            <a:r>
              <a:t>• Complete mini-project simulator &amp; observe score boost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1645920"/>
            <a:ext cx="324612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Step 2: Recruiter Experience</a:t>
            </a:r>
          </a:p>
          <a:p>
            <a:br/>
            <a:pPr>
              <a:defRPr sz="1200">
                <a:solidFill>
                  <a:srgbClr val="0F172A"/>
                </a:solidFill>
              </a:defRPr>
            </a:pPr>
            <a:r>
              <a:t>• Log in as company: company@example.com</a:t>
            </a:r>
          </a:p>
          <a:p>
            <a:br/>
            <a:pPr>
              <a:defRPr sz="1200">
                <a:solidFill>
                  <a:srgbClr val="0F172A"/>
                </a:solidFill>
              </a:defRPr>
            </a:pPr>
            <a:r>
              <a:t>• Publish new internship requisition</a:t>
            </a:r>
          </a:p>
          <a:p>
            <a:br/>
            <a:pPr>
              <a:defRPr sz="1200">
                <a:solidFill>
                  <a:srgbClr val="0F172A"/>
                </a:solidFill>
              </a:defRPr>
            </a:pPr>
            <a:r>
              <a:t>• Review AI ranked applicant leaderboard</a:t>
            </a:r>
          </a:p>
          <a:p>
            <a:br/>
            <a:pPr>
              <a:defRPr sz="1200">
                <a:solidFill>
                  <a:srgbClr val="0F172A"/>
                </a:solidFill>
              </a:defRPr>
            </a:pPr>
            <a:r>
              <a:t>• Inspect top applicant's detailed dossier</a:t>
            </a:r>
          </a:p>
          <a:p>
            <a:br/>
            <a:pPr>
              <a:defRPr sz="1200">
                <a:solidFill>
                  <a:srgbClr val="0F172A"/>
                </a:solidFill>
              </a:defRPr>
            </a:pPr>
            <a:r>
              <a:t>• Shortlist candidate &amp; trigger notification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1645920"/>
            <a:ext cx="324612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8B5CF6"/>
                </a:solidFill>
              </a:defRPr>
            </a:pPr>
            <a:r>
              <a:t>Step 3: Admin Experience</a:t>
            </a:r>
          </a:p>
          <a:p>
            <a:br/>
            <a:pPr>
              <a:defRPr sz="1200">
                <a:solidFill>
                  <a:srgbClr val="0F172A"/>
                </a:solidFill>
              </a:defRPr>
            </a:pPr>
            <a:r>
              <a:t>• Log in as admin: admin@example.com</a:t>
            </a:r>
          </a:p>
          <a:p>
            <a:br/>
            <a:pPr>
              <a:defRPr sz="1200">
                <a:solidFill>
                  <a:srgbClr val="0F172A"/>
                </a:solidFill>
              </a:defRPr>
            </a:pPr>
            <a:r>
              <a:t>• Inspect Gender, Rural/Urban &amp; Tier ratios</a:t>
            </a:r>
          </a:p>
          <a:p>
            <a:br/>
            <a:pPr>
              <a:defRPr sz="1200">
                <a:solidFill>
                  <a:srgbClr val="0F172A"/>
                </a:solidFill>
              </a:defRPr>
            </a:pPr>
            <a:r>
              <a:t>• Trigger Automated Macro Allocation engine</a:t>
            </a:r>
          </a:p>
          <a:p>
            <a:br/>
            <a:pPr>
              <a:defRPr sz="1200">
                <a:solidFill>
                  <a:srgbClr val="0F172A"/>
                </a:solidFill>
              </a:defRPr>
            </a:pPr>
            <a:r>
              <a:t>• Inspect system telemetry &amp; user governance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200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FUTURE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National Impact, Scalability &amp; Strategic 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3035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🌐 Multi-Lingual Regional Support</a:t>
            </a:r>
          </a:p>
          <a:p>
            <a:br/>
            <a:pPr>
              <a:defRPr sz="1300">
                <a:solidFill>
                  <a:srgbClr val="0F172A"/>
                </a:solidFill>
              </a:defRPr>
            </a:pPr>
            <a:r>
              <a:t>Integrate vernacular Indian language models (Bhashini AI / IndicLLM) to support rural applicants in Hindi, Tamil, Telugu, Marathi, and Bengali.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645920"/>
            <a:ext cx="53035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🔗 Blockchain Verified Credentials</a:t>
            </a:r>
          </a:p>
          <a:p>
            <a:br/>
            <a:pPr>
              <a:defRPr sz="1300">
                <a:solidFill>
                  <a:srgbClr val="0F172A"/>
                </a:solidFill>
              </a:defRPr>
            </a:pPr>
            <a:r>
              <a:t>Tamper-proof verifiable credentials on DigiLocker / IndiaStack blockchain for automatic verification of degrees and certifications.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3035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8B5CF6"/>
                </a:solidFill>
              </a:defRPr>
            </a:pPr>
            <a:r>
              <a:t>📱 Native Mobile Application</a:t>
            </a:r>
          </a:p>
          <a:p>
            <a:br/>
            <a:pPr>
              <a:defRPr sz="1300">
                <a:solidFill>
                  <a:srgbClr val="0F172A"/>
                </a:solidFill>
              </a:defRPr>
            </a:pPr>
            <a:r>
              <a:t>PWA &amp; low-bandwidth Flutter app with offline caching and SMS notification fallback for remote areas with intermittent connectivity.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3931920"/>
            <a:ext cx="53035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59E0B"/>
                </a:solidFill>
              </a:defRPr>
            </a:pPr>
            <a:r>
              <a:t>🚀 Pan-India Kubernetes Microservices</a:t>
            </a:r>
          </a:p>
          <a:p>
            <a:br/>
            <a:pPr>
              <a:defRPr sz="1300">
                <a:solidFill>
                  <a:srgbClr val="0F172A"/>
                </a:solidFill>
              </a:defRPr>
            </a:pPr>
            <a:r>
              <a:t>Containerized microservice scaling on MeghRaj / NIC Cloud capable of handling 50,000+ concurrent allocation requests per second.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Thank You! | Questions &amp; Answers</a:t>
            </a:r>
          </a:p>
          <a:p>
            <a:pPr>
              <a:defRPr sz="2000">
                <a:solidFill>
                  <a:srgbClr val="93C5FD"/>
                </a:solidFill>
              </a:defRPr>
            </a:pPr>
            <a:r>
              <a:t>Skill-Sync AI: Empowering India's Youth Through Transparent, Equitable &amp; Smart Allocation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108960"/>
            <a:ext cx="10332720" cy="3108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CD34D"/>
                </a:solidFill>
              </a:defRPr>
            </a:pPr>
            <a:r>
              <a:t>🔑 Why Skill-Sync AI Wins for PM Internship Scheme:</a:t>
            </a:r>
          </a:p>
          <a:p>
            <a:pPr>
              <a:spcAft>
                <a:spcPts val="400"/>
              </a:spcAft>
              <a:defRPr sz="1400">
                <a:solidFill>
                  <a:srgbClr val="E2E8F0"/>
                </a:solidFill>
              </a:defRPr>
            </a:pPr>
            <a:r>
              <a:t>•  1. Complete End-to-End Working System (React 19 + FastAPI + MongoDB + Groq AI).</a:t>
            </a:r>
          </a:p>
          <a:p>
            <a:pPr>
              <a:spcAft>
                <a:spcPts val="400"/>
              </a:spcAft>
              <a:defRPr sz="1400">
                <a:solidFill>
                  <a:srgbClr val="E2E8F0"/>
                </a:solidFill>
              </a:defRPr>
            </a:pPr>
            <a:r>
              <a:t>•  2. Mathematically Sound Hybrid Matching (TF-IDF + Jaccard + Non-linear Boosting).</a:t>
            </a:r>
          </a:p>
          <a:p>
            <a:pPr>
              <a:spcAft>
                <a:spcPts val="400"/>
              </a:spcAft>
              <a:defRPr sz="1400">
                <a:solidFill>
                  <a:srgbClr val="E2E8F0"/>
                </a:solidFill>
              </a:defRPr>
            </a:pPr>
            <a:r>
              <a:t>•  3. Solves Real National Bottlenecks: Inclusivity, Skill Gaps, and Pre-Placement Training.</a:t>
            </a:r>
          </a:p>
          <a:p>
            <a:pPr>
              <a:spcAft>
                <a:spcPts val="400"/>
              </a:spcAft>
              <a:defRPr sz="1400">
                <a:solidFill>
                  <a:srgbClr val="E2E8F0"/>
                </a:solidFill>
              </a:defRPr>
            </a:pPr>
            <a:r>
              <a:t>•  4. Live Interactive AI Capabilities: Mock Interviews, Resume Parser, and 3-Phase Roadmaps.</a:t>
            </a:r>
          </a:p>
          <a:p>
            <a:pPr>
              <a:spcAft>
                <a:spcPts val="400"/>
              </a:spcAft>
              <a:defRPr sz="1400">
                <a:solidFill>
                  <a:srgbClr val="E2E8F0"/>
                </a:solidFill>
              </a:defRPr>
            </a:pPr>
            <a:r>
              <a:t>•  5. Ready for National Deployment across India's top 500 companies.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